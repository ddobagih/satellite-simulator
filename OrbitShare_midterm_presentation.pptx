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C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968" y="896112"/>
            <a:ext cx="4315968" cy="521969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02920" y="6473952"/>
            <a:ext cx="11018520" cy="9144"/>
          </a:xfrm>
          <a:prstGeom prst="rect">
            <a:avLst/>
          </a:prstGeom>
          <a:solidFill>
            <a:srgbClr val="D4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56248"/>
            <a:ext cx="8046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56606A"/>
                </a:solidFill>
                <a:latin typeface="Noto Sans CJK KR"/>
              </a:rPr>
              <a:t>OrbitShare midterm progress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43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32A32"/>
                </a:solidFill>
                <a:latin typeface="Noto Sans CJK KR"/>
              </a:rPr>
              <a:t>컴퓨터그래픽스 중간발표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73936"/>
            <a:ext cx="512064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900" b="1">
                <a:solidFill>
                  <a:srgbClr val="1C6EB8"/>
                </a:solidFill>
                <a:latin typeface="Noto Sans CJK KR"/>
              </a:rPr>
              <a:t>OrbitShare</a:t>
            </a:r>
          </a:p>
          <a:p>
            <a:r>
              <a:rPr sz="3900" b="1">
                <a:solidFill>
                  <a:srgbClr val="1C6EB8"/>
                </a:solidFill>
                <a:latin typeface="Noto Sans CJK KR"/>
              </a:rPr>
              <a:t>중간 진도 점검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299008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>
                <a:solidFill>
                  <a:srgbClr val="232A32"/>
                </a:solidFill>
                <a:latin typeface="Noto Sans CJK KR"/>
              </a:rPr>
              <a:t>Unity 3D 위성 단문 전송 시뮬레이터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3685032"/>
            <a:ext cx="52120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6606A"/>
                </a:solidFill>
                <a:latin typeface="Noto Sans CJK KR"/>
              </a:rPr>
              <a:t>초기 MVP 대비 진행 상황</a:t>
            </a:r>
          </a:p>
          <a:p>
            <a:r>
              <a:rPr sz="1300" b="0">
                <a:solidFill>
                  <a:srgbClr val="56606A"/>
                </a:solidFill>
                <a:latin typeface="Noto Sans CJK KR"/>
              </a:rPr>
              <a:t>현재 구현 화면과 검증 근거</a:t>
            </a:r>
          </a:p>
          <a:p>
            <a:r>
              <a:rPr sz="1300" b="0">
                <a:solidFill>
                  <a:srgbClr val="56606A"/>
                </a:solidFill>
                <a:latin typeface="Noto Sans CJK KR"/>
              </a:rPr>
              <a:t>남은 구현/검증 작업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" y="4956048"/>
            <a:ext cx="1417320" cy="310896"/>
          </a:xfrm>
          <a:prstGeom prst="roundRect">
            <a:avLst/>
          </a:prstGeom>
          <a:solidFill>
            <a:srgbClr val="1C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KR"/>
              </a:rPr>
              <a:t>2026.05.25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76272" y="4956048"/>
            <a:ext cx="1508760" cy="310896"/>
          </a:xfrm>
          <a:prstGeom prst="roundRect">
            <a:avLst/>
          </a:prstGeom>
          <a:solidFill>
            <a:srgbClr val="20B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KR"/>
              </a:rPr>
              <a:t>중간 점검</a:t>
            </a:r>
          </a:p>
        </p:txBody>
      </p:sp>
      <p:sp>
        <p:nvSpPr>
          <p:cNvPr id="13" name="VisibleSlideNumber"/>
          <p:cNvSpPr txBox="1"/>
          <p:nvPr/>
        </p:nvSpPr>
        <p:spPr>
          <a:xfrm>
            <a:off x="10104120" y="6254496"/>
            <a:ext cx="129844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50" b="1">
                <a:solidFill>
                  <a:srgbClr val="1C6EB8"/>
                </a:solidFill>
                <a:latin typeface="Noto Sans CJK KR"/>
              </a:rP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C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473952"/>
            <a:ext cx="11018520" cy="9144"/>
          </a:xfrm>
          <a:prstGeom prst="rect">
            <a:avLst/>
          </a:prstGeom>
          <a:solidFill>
            <a:srgbClr val="D4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6556248"/>
            <a:ext cx="8046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56606A"/>
                </a:solidFill>
                <a:latin typeface="Noto Sans CJK KR"/>
              </a:rPr>
              <a:t>초기 목표, 진행 현황, 현재 화면, 남은 작업 순서로 진행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04120" y="6254496"/>
            <a:ext cx="12984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50" b="1">
                <a:solidFill>
                  <a:srgbClr val="1C6EB8"/>
                </a:solidFill>
                <a:latin typeface="Noto Sans CJK KR"/>
              </a:rPr>
              <a:t>02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84048"/>
            <a:ext cx="8138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C6EB8"/>
                </a:solidFill>
                <a:latin typeface="Noto Sans CJK KR"/>
              </a:rPr>
              <a:t>발표 구성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96112"/>
            <a:ext cx="8412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70" b="0">
                <a:solidFill>
                  <a:srgbClr val="56606A"/>
                </a:solidFill>
                <a:latin typeface="Noto Sans CJK KR"/>
              </a:rPr>
              <a:t>처음 목표를 기준으로 현재 구현, 화면 증거, 남은 작업을 순서대로 확인합니다.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572768"/>
            <a:ext cx="2487168" cy="3337560"/>
          </a:xfrm>
          <a:prstGeom prst="rect">
            <a:avLst/>
          </a:prstGeom>
          <a:solidFill>
            <a:srgbClr val="E7F2FC"/>
          </a:solidFill>
          <a:ln w="10160">
            <a:solidFill>
              <a:srgbClr val="D4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1874519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1C6EB8"/>
                </a:solidFill>
                <a:latin typeface="Noto Sans CJK KR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" y="2304288"/>
            <a:ext cx="19933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50" b="1">
                <a:solidFill>
                  <a:srgbClr val="1C6EB8"/>
                </a:solidFill>
                <a:latin typeface="Noto Sans CJK KR"/>
              </a:rPr>
              <a:t>초기 목표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" y="3127248"/>
            <a:ext cx="193852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40" b="1">
                <a:solidFill>
                  <a:srgbClr val="232A32"/>
                </a:solidFill>
                <a:latin typeface="Noto Sans CJK KR"/>
              </a:rPr>
              <a:t>MVP</a:t>
            </a:r>
          </a:p>
          <a:p>
            <a:r>
              <a:rPr sz="1240" b="1">
                <a:solidFill>
                  <a:srgbClr val="232A32"/>
                </a:solidFill>
                <a:latin typeface="Noto Sans CJK KR"/>
              </a:rPr>
              <a:t>추가 구현</a:t>
            </a:r>
          </a:p>
          <a:p>
            <a:r>
              <a:rPr sz="1240" b="1">
                <a:solidFill>
                  <a:srgbClr val="232A32"/>
                </a:solidFill>
                <a:latin typeface="Noto Sans CJK KR"/>
              </a:rPr>
              <a:t>범위 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" y="4315968"/>
            <a:ext cx="960120" cy="292608"/>
          </a:xfrm>
          <a:prstGeom prst="roundRect">
            <a:avLst/>
          </a:prstGeom>
          <a:solidFill>
            <a:srgbClr val="1C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Noto Sans CJK KR"/>
              </a:rPr>
              <a:t>check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64992" y="1572768"/>
            <a:ext cx="2487168" cy="3337560"/>
          </a:xfrm>
          <a:prstGeom prst="rect">
            <a:avLst/>
          </a:prstGeom>
          <a:solidFill>
            <a:srgbClr val="E5F7EE"/>
          </a:solidFill>
          <a:ln w="10160">
            <a:solidFill>
              <a:srgbClr val="D4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75304" y="1874519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20B264"/>
                </a:solidFill>
                <a:latin typeface="Noto Sans CJK KR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75304" y="2304288"/>
            <a:ext cx="19933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50" b="1">
                <a:solidFill>
                  <a:srgbClr val="20B264"/>
                </a:solidFill>
                <a:latin typeface="Noto Sans CJK KR"/>
              </a:rPr>
              <a:t>진행 현황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75304" y="3127248"/>
            <a:ext cx="193852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40" b="1">
                <a:solidFill>
                  <a:srgbClr val="232A32"/>
                </a:solidFill>
                <a:latin typeface="Noto Sans CJK KR"/>
              </a:rPr>
              <a:t>목표 대비 진행</a:t>
            </a:r>
          </a:p>
          <a:p>
            <a:r>
              <a:rPr sz="1240" b="1">
                <a:solidFill>
                  <a:srgbClr val="232A32"/>
                </a:solidFill>
                <a:latin typeface="Noto Sans CJK KR"/>
              </a:rPr>
              <a:t>구현 완료 흐름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75304" y="4315968"/>
            <a:ext cx="960120" cy="292608"/>
          </a:xfrm>
          <a:prstGeom prst="roundRect">
            <a:avLst/>
          </a:prstGeom>
          <a:solidFill>
            <a:srgbClr val="20B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Noto Sans CJK KR"/>
              </a:rPr>
              <a:t>check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1572768"/>
            <a:ext cx="2487168" cy="3337560"/>
          </a:xfrm>
          <a:prstGeom prst="rect">
            <a:avLst/>
          </a:prstGeom>
          <a:solidFill>
            <a:srgbClr val="E7F2FC"/>
          </a:solidFill>
          <a:ln w="10160">
            <a:solidFill>
              <a:srgbClr val="D4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9944" y="1874519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1C6EB8"/>
                </a:solidFill>
                <a:latin typeface="Noto Sans CJK KR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304288"/>
            <a:ext cx="19933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50" b="1">
                <a:solidFill>
                  <a:srgbClr val="1C6EB8"/>
                </a:solidFill>
                <a:latin typeface="Noto Sans CJK KR"/>
              </a:rPr>
              <a:t>현재 화면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9944" y="3127248"/>
            <a:ext cx="193852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40" b="1">
                <a:solidFill>
                  <a:srgbClr val="232A32"/>
                </a:solidFill>
                <a:latin typeface="Noto Sans CJK KR"/>
              </a:rPr>
              <a:t>실행 화면</a:t>
            </a:r>
          </a:p>
          <a:p>
            <a:r>
              <a:rPr sz="1240" b="1">
                <a:solidFill>
                  <a:srgbClr val="232A32"/>
                </a:solidFill>
                <a:latin typeface="Noto Sans CJK KR"/>
              </a:rPr>
              <a:t>시뮬레이션 한계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9944" y="4315968"/>
            <a:ext cx="960120" cy="292608"/>
          </a:xfrm>
          <a:prstGeom prst="roundRect">
            <a:avLst/>
          </a:prstGeom>
          <a:solidFill>
            <a:srgbClr val="1C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Noto Sans CJK KR"/>
              </a:rPr>
              <a:t>check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34272" y="1572768"/>
            <a:ext cx="2487168" cy="3337560"/>
          </a:xfrm>
          <a:prstGeom prst="rect">
            <a:avLst/>
          </a:prstGeom>
          <a:solidFill>
            <a:srgbClr val="FFF6E0"/>
          </a:solidFill>
          <a:ln w="10160">
            <a:solidFill>
              <a:srgbClr val="D4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44584" y="1874519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F3AE20"/>
                </a:solidFill>
                <a:latin typeface="Noto Sans CJK KR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44584" y="2304288"/>
            <a:ext cx="19933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50" b="1">
                <a:solidFill>
                  <a:srgbClr val="F3AE20"/>
                </a:solidFill>
                <a:latin typeface="Noto Sans CJK KR"/>
              </a:rPr>
              <a:t>남은 작업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44584" y="3127248"/>
            <a:ext cx="193852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40" b="1">
                <a:solidFill>
                  <a:srgbClr val="232A32"/>
                </a:solidFill>
                <a:latin typeface="Noto Sans CJK KR"/>
              </a:rPr>
              <a:t>예외 검증</a:t>
            </a:r>
          </a:p>
          <a:p>
            <a:r>
              <a:rPr sz="1240" b="1">
                <a:solidFill>
                  <a:srgbClr val="232A32"/>
                </a:solidFill>
                <a:latin typeface="Noto Sans CJK KR"/>
              </a:rPr>
              <a:t>실제 통신 방식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44584" y="4315968"/>
            <a:ext cx="960120" cy="292608"/>
          </a:xfrm>
          <a:prstGeom prst="roundRect">
            <a:avLst/>
          </a:prstGeom>
          <a:solidFill>
            <a:srgbClr val="F3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Noto Sans CJK KR"/>
              </a:rPr>
              <a:t>check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5650992"/>
            <a:ext cx="9784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6606A"/>
                </a:solidFill>
                <a:latin typeface="Noto Sans CJK KR"/>
              </a:rPr>
              <a:t>흐름은 “초기 목표 → 진행 현황 → 현재 화면 → 남은 작업”입니다.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0B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473952"/>
            <a:ext cx="11018520" cy="9144"/>
          </a:xfrm>
          <a:prstGeom prst="rect">
            <a:avLst/>
          </a:prstGeom>
          <a:solidFill>
            <a:srgbClr val="D4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6556248"/>
            <a:ext cx="8046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56606A"/>
                </a:solidFill>
                <a:latin typeface="Noto Sans CJK KR"/>
              </a:rPr>
              <a:t>초기 발표 기준 MVP와 추가 구현 범위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84048"/>
            <a:ext cx="8138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C6EB8"/>
                </a:solidFill>
                <a:latin typeface="Noto Sans CJK KR"/>
              </a:rPr>
              <a:t>초기 구현 범위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96112"/>
            <a:ext cx="8412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70" b="0">
                <a:solidFill>
                  <a:srgbClr val="56606A"/>
                </a:solidFill>
                <a:latin typeface="Noto Sans CJK KR"/>
              </a:rPr>
              <a:t>처음 발표 때 정한 MVP와 추가 구현 항목을 기준으로 현재 진도를 점검합니다.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371600"/>
            <a:ext cx="3246120" cy="4480560"/>
          </a:xfrm>
          <a:prstGeom prst="rect">
            <a:avLst/>
          </a:prstGeom>
          <a:solidFill>
            <a:srgbClr val="E5F7EE"/>
          </a:solidFill>
          <a:ln w="10160">
            <a:solidFill>
              <a:srgbClr val="D4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64208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20B264"/>
                </a:solidFill>
                <a:latin typeface="Noto Sans CJK KR"/>
              </a:rPr>
              <a:t>MVP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574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56606A"/>
                </a:solidFill>
                <a:latin typeface="Noto Sans CJK KR"/>
              </a:rPr>
              <a:t>반드시 구현</a:t>
            </a:r>
          </a:p>
        </p:txBody>
      </p:sp>
      <p:sp>
        <p:nvSpPr>
          <p:cNvPr id="11" name="Oval 10"/>
          <p:cNvSpPr/>
          <p:nvPr/>
        </p:nvSpPr>
        <p:spPr>
          <a:xfrm>
            <a:off x="950976" y="2633472"/>
            <a:ext cx="91440" cy="91440"/>
          </a:xfrm>
          <a:prstGeom prst="ellipse">
            <a:avLst/>
          </a:prstGeom>
          <a:solidFill>
            <a:srgbClr val="20B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1288" y="2542032"/>
            <a:ext cx="2514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70" b="0">
                <a:solidFill>
                  <a:srgbClr val="232A32"/>
                </a:solidFill>
                <a:latin typeface="Noto Sans CJK KR"/>
              </a:rPr>
              <a:t>지구·사용자 위치·위성 표시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3063240"/>
            <a:ext cx="91440" cy="91440"/>
          </a:xfrm>
          <a:prstGeom prst="ellipse">
            <a:avLst/>
          </a:prstGeom>
          <a:solidFill>
            <a:srgbClr val="20B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61288" y="2971800"/>
            <a:ext cx="2514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70" b="0">
                <a:solidFill>
                  <a:srgbClr val="232A32"/>
                </a:solidFill>
                <a:latin typeface="Noto Sans CJK KR"/>
              </a:rPr>
              <a:t>위성 이동 방향과 경로 표시</a:t>
            </a:r>
          </a:p>
        </p:txBody>
      </p:sp>
      <p:sp>
        <p:nvSpPr>
          <p:cNvPr id="15" name="Oval 14"/>
          <p:cNvSpPr/>
          <p:nvPr/>
        </p:nvSpPr>
        <p:spPr>
          <a:xfrm>
            <a:off x="950976" y="3493008"/>
            <a:ext cx="91440" cy="91440"/>
          </a:xfrm>
          <a:prstGeom prst="ellipse">
            <a:avLst/>
          </a:prstGeom>
          <a:solidFill>
            <a:srgbClr val="20B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61288" y="3401568"/>
            <a:ext cx="2514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70" b="0">
                <a:solidFill>
                  <a:srgbClr val="232A32"/>
                </a:solidFill>
                <a:latin typeface="Noto Sans CJK KR"/>
              </a:rPr>
              <a:t>통신 가능 후보와 시간 슬롯</a:t>
            </a:r>
          </a:p>
        </p:txBody>
      </p:sp>
      <p:sp>
        <p:nvSpPr>
          <p:cNvPr id="17" name="Oval 16"/>
          <p:cNvSpPr/>
          <p:nvPr/>
        </p:nvSpPr>
        <p:spPr>
          <a:xfrm>
            <a:off x="950976" y="3922776"/>
            <a:ext cx="91440" cy="91440"/>
          </a:xfrm>
          <a:prstGeom prst="ellipse">
            <a:avLst/>
          </a:prstGeom>
          <a:solidFill>
            <a:srgbClr val="20B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61288" y="3831336"/>
            <a:ext cx="2514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70" b="0">
                <a:solidFill>
                  <a:srgbClr val="232A32"/>
                </a:solidFill>
                <a:latin typeface="Noto Sans CJK KR"/>
              </a:rPr>
              <a:t>위성 선택 -&gt; 정보 입력 -&gt; 요청 완료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352544"/>
            <a:ext cx="91440" cy="91440"/>
          </a:xfrm>
          <a:prstGeom prst="ellipse">
            <a:avLst/>
          </a:prstGeom>
          <a:solidFill>
            <a:srgbClr val="20B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61288" y="4261104"/>
            <a:ext cx="2514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70" b="0">
                <a:solidFill>
                  <a:srgbClr val="232A32"/>
                </a:solidFill>
                <a:latin typeface="Noto Sans CJK KR"/>
              </a:rPr>
              <a:t>짧은 메시지/센서 데이터 입력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61688" y="1371600"/>
            <a:ext cx="3246120" cy="4480560"/>
          </a:xfrm>
          <a:prstGeom prst="rect">
            <a:avLst/>
          </a:prstGeom>
          <a:solidFill>
            <a:srgbClr val="E7F2FC"/>
          </a:solidFill>
          <a:ln w="10160">
            <a:solidFill>
              <a:srgbClr val="D4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36008" y="1664208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C6EB8"/>
                </a:solidFill>
                <a:latin typeface="Noto Sans CJK KR"/>
              </a:rPr>
              <a:t>추가 구현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36008" y="20574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56606A"/>
                </a:solidFill>
                <a:latin typeface="Noto Sans CJK KR"/>
              </a:rPr>
              <a:t>완성도 향상</a:t>
            </a:r>
          </a:p>
        </p:txBody>
      </p:sp>
      <p:sp>
        <p:nvSpPr>
          <p:cNvPr id="24" name="Oval 23"/>
          <p:cNvSpPr/>
          <p:nvPr/>
        </p:nvSpPr>
        <p:spPr>
          <a:xfrm>
            <a:off x="4654296" y="2633472"/>
            <a:ext cx="91440" cy="91440"/>
          </a:xfrm>
          <a:prstGeom prst="ellipse">
            <a:avLst/>
          </a:prstGeom>
          <a:solidFill>
            <a:srgbClr val="1C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64608" y="2542032"/>
            <a:ext cx="2514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70" b="0">
                <a:solidFill>
                  <a:srgbClr val="232A32"/>
                </a:solidFill>
                <a:latin typeface="Noto Sans CJK KR"/>
              </a:rPr>
              <a:t>위성 접근/이탈 애니메이션</a:t>
            </a:r>
          </a:p>
        </p:txBody>
      </p:sp>
      <p:sp>
        <p:nvSpPr>
          <p:cNvPr id="26" name="Oval 25"/>
          <p:cNvSpPr/>
          <p:nvPr/>
        </p:nvSpPr>
        <p:spPr>
          <a:xfrm>
            <a:off x="4654296" y="3063240"/>
            <a:ext cx="91440" cy="91440"/>
          </a:xfrm>
          <a:prstGeom prst="ellipse">
            <a:avLst/>
          </a:prstGeom>
          <a:solidFill>
            <a:srgbClr val="1C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64608" y="2971800"/>
            <a:ext cx="2514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70" b="0">
                <a:solidFill>
                  <a:srgbClr val="232A32"/>
                </a:solidFill>
                <a:latin typeface="Noto Sans CJK KR"/>
              </a:rPr>
              <a:t>통신 가능 범위와 연결선 강조</a:t>
            </a:r>
          </a:p>
        </p:txBody>
      </p:sp>
      <p:sp>
        <p:nvSpPr>
          <p:cNvPr id="28" name="Oval 27"/>
          <p:cNvSpPr/>
          <p:nvPr/>
        </p:nvSpPr>
        <p:spPr>
          <a:xfrm>
            <a:off x="4654296" y="3493008"/>
            <a:ext cx="91440" cy="91440"/>
          </a:xfrm>
          <a:prstGeom prst="ellipse">
            <a:avLst/>
          </a:prstGeom>
          <a:solidFill>
            <a:srgbClr val="1C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64608" y="3401568"/>
            <a:ext cx="2514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70" b="0">
                <a:solidFill>
                  <a:srgbClr val="232A32"/>
                </a:solidFill>
                <a:latin typeface="Noto Sans CJK KR"/>
              </a:rPr>
              <a:t>개인정보 최소화 안내 UI</a:t>
            </a:r>
          </a:p>
        </p:txBody>
      </p:sp>
      <p:sp>
        <p:nvSpPr>
          <p:cNvPr id="30" name="Oval 29"/>
          <p:cNvSpPr/>
          <p:nvPr/>
        </p:nvSpPr>
        <p:spPr>
          <a:xfrm>
            <a:off x="4654296" y="3922776"/>
            <a:ext cx="91440" cy="91440"/>
          </a:xfrm>
          <a:prstGeom prst="ellipse">
            <a:avLst/>
          </a:prstGeom>
          <a:solidFill>
            <a:srgbClr val="1C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64608" y="3831336"/>
            <a:ext cx="2514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70" b="0">
                <a:solidFill>
                  <a:srgbClr val="232A32"/>
                </a:solidFill>
                <a:latin typeface="Noto Sans CJK KR"/>
              </a:rPr>
              <a:t>암호화 처리 과정과 요청 로그</a:t>
            </a:r>
          </a:p>
        </p:txBody>
      </p:sp>
      <p:sp>
        <p:nvSpPr>
          <p:cNvPr id="32" name="Oval 31"/>
          <p:cNvSpPr/>
          <p:nvPr/>
        </p:nvSpPr>
        <p:spPr>
          <a:xfrm>
            <a:off x="4654296" y="4352544"/>
            <a:ext cx="91440" cy="91440"/>
          </a:xfrm>
          <a:prstGeom prst="ellipse">
            <a:avLst/>
          </a:prstGeom>
          <a:solidFill>
            <a:srgbClr val="1C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64608" y="4261104"/>
            <a:ext cx="2514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70" b="0">
                <a:solidFill>
                  <a:srgbClr val="232A32"/>
                </a:solidFill>
                <a:latin typeface="Noto Sans CJK KR"/>
              </a:rPr>
              <a:t>시연용 카메라 패스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65008" y="1371600"/>
            <a:ext cx="3246120" cy="4480560"/>
          </a:xfrm>
          <a:prstGeom prst="rect">
            <a:avLst/>
          </a:prstGeom>
          <a:solidFill>
            <a:srgbClr val="FFF6E0"/>
          </a:solidFill>
          <a:ln w="10160">
            <a:solidFill>
              <a:srgbClr val="D4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39328" y="1664208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F3AE20"/>
                </a:solidFill>
                <a:latin typeface="Noto Sans CJK KR"/>
              </a:rPr>
              <a:t>범위 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39328" y="20574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56606A"/>
                </a:solidFill>
                <a:latin typeface="Noto Sans CJK KR"/>
              </a:rPr>
              <a:t>현재 구현 아님</a:t>
            </a:r>
          </a:p>
        </p:txBody>
      </p:sp>
      <p:sp>
        <p:nvSpPr>
          <p:cNvPr id="37" name="Oval 36"/>
          <p:cNvSpPr/>
          <p:nvPr/>
        </p:nvSpPr>
        <p:spPr>
          <a:xfrm>
            <a:off x="8357616" y="2633472"/>
            <a:ext cx="91440" cy="91440"/>
          </a:xfrm>
          <a:prstGeom prst="ellipse">
            <a:avLst/>
          </a:prstGeom>
          <a:solidFill>
            <a:srgbClr val="F3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67928" y="2542032"/>
            <a:ext cx="2514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70" b="0">
                <a:solidFill>
                  <a:srgbClr val="232A32"/>
                </a:solidFill>
                <a:latin typeface="Noto Sans CJK KR"/>
              </a:rPr>
              <a:t>실제 위성망/API 연동</a:t>
            </a:r>
          </a:p>
        </p:txBody>
      </p:sp>
      <p:sp>
        <p:nvSpPr>
          <p:cNvPr id="39" name="Oval 38"/>
          <p:cNvSpPr/>
          <p:nvPr/>
        </p:nvSpPr>
        <p:spPr>
          <a:xfrm>
            <a:off x="8357616" y="3063240"/>
            <a:ext cx="91440" cy="91440"/>
          </a:xfrm>
          <a:prstGeom prst="ellipse">
            <a:avLst/>
          </a:prstGeom>
          <a:solidFill>
            <a:srgbClr val="F3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67928" y="2971800"/>
            <a:ext cx="2514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70" b="0">
                <a:solidFill>
                  <a:srgbClr val="232A32"/>
                </a:solidFill>
                <a:latin typeface="Noto Sans CJK KR"/>
              </a:rPr>
              <a:t>대용량 파일 전송</a:t>
            </a:r>
          </a:p>
        </p:txBody>
      </p:sp>
      <p:sp>
        <p:nvSpPr>
          <p:cNvPr id="41" name="Oval 40"/>
          <p:cNvSpPr/>
          <p:nvPr/>
        </p:nvSpPr>
        <p:spPr>
          <a:xfrm>
            <a:off x="8357616" y="3493008"/>
            <a:ext cx="91440" cy="91440"/>
          </a:xfrm>
          <a:prstGeom prst="ellipse">
            <a:avLst/>
          </a:prstGeom>
          <a:solidFill>
            <a:srgbClr val="F3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67928" y="3401568"/>
            <a:ext cx="2514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70" b="0">
                <a:solidFill>
                  <a:srgbClr val="232A32"/>
                </a:solidFill>
                <a:latin typeface="Noto Sans CJK KR"/>
              </a:rPr>
              <a:t>서버 기반 사용자 추적 저장</a:t>
            </a:r>
          </a:p>
        </p:txBody>
      </p:sp>
      <p:sp>
        <p:nvSpPr>
          <p:cNvPr id="43" name="Oval 42"/>
          <p:cNvSpPr/>
          <p:nvPr/>
        </p:nvSpPr>
        <p:spPr>
          <a:xfrm>
            <a:off x="8357616" y="3922776"/>
            <a:ext cx="91440" cy="91440"/>
          </a:xfrm>
          <a:prstGeom prst="ellipse">
            <a:avLst/>
          </a:prstGeom>
          <a:solidFill>
            <a:srgbClr val="F3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67928" y="3831336"/>
            <a:ext cx="2514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70" b="0">
                <a:solidFill>
                  <a:srgbClr val="232A32"/>
                </a:solidFill>
                <a:latin typeface="Noto Sans CJK KR"/>
              </a:rPr>
              <a:t>정밀한 실제 통신 방식</a:t>
            </a:r>
          </a:p>
        </p:txBody>
      </p:sp>
      <p:sp>
        <p:nvSpPr>
          <p:cNvPr id="45" name="Oval 44"/>
          <p:cNvSpPr/>
          <p:nvPr/>
        </p:nvSpPr>
        <p:spPr>
          <a:xfrm>
            <a:off x="8357616" y="4352544"/>
            <a:ext cx="91440" cy="91440"/>
          </a:xfrm>
          <a:prstGeom prst="ellipse">
            <a:avLst/>
          </a:prstGeom>
          <a:solidFill>
            <a:srgbClr val="F3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67928" y="4261104"/>
            <a:ext cx="2514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70" b="0">
                <a:solidFill>
                  <a:srgbClr val="232A32"/>
                </a:solidFill>
                <a:latin typeface="Noto Sans CJK KR"/>
              </a:rPr>
              <a:t>운영 서비스 수준 검증</a:t>
            </a:r>
          </a:p>
        </p:txBody>
      </p:sp>
      <p:sp>
        <p:nvSpPr>
          <p:cNvPr id="47" name="VisibleSlideNumber"/>
          <p:cNvSpPr txBox="1"/>
          <p:nvPr/>
        </p:nvSpPr>
        <p:spPr>
          <a:xfrm>
            <a:off x="10104120" y="6254496"/>
            <a:ext cx="129844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50" b="1">
                <a:solidFill>
                  <a:srgbClr val="1C6EB8"/>
                </a:solidFill>
                <a:latin typeface="Noto Sans CJK KR"/>
              </a:rP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C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473952"/>
            <a:ext cx="11018520" cy="9144"/>
          </a:xfrm>
          <a:prstGeom prst="rect">
            <a:avLst/>
          </a:prstGeom>
          <a:solidFill>
            <a:srgbClr val="D4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6556248"/>
            <a:ext cx="8046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56606A"/>
                </a:solidFill>
                <a:latin typeface="Noto Sans CJK KR"/>
              </a:rPr>
              <a:t>진행 상태: MVP 핵심 흐름 완료 단계, 실제 통신 방식은 남은 작업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84048"/>
            <a:ext cx="8138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C6EB8"/>
                </a:solidFill>
                <a:latin typeface="Noto Sans CJK KR"/>
              </a:rPr>
              <a:t>목표 대비 진행 현황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96112"/>
            <a:ext cx="8412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70" b="0">
                <a:solidFill>
                  <a:srgbClr val="56606A"/>
                </a:solidFill>
                <a:latin typeface="Noto Sans CJK KR"/>
              </a:rPr>
              <a:t>초기 MVP는 대부분 구현됐고, 실제 통신 방식 반영은 아직 남아 있습니다.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0533888" cy="987552"/>
          </a:xfrm>
          <a:prstGeom prst="rect">
            <a:avLst/>
          </a:prstGeom>
          <a:solidFill>
            <a:srgbClr val="E7F2FC"/>
          </a:solidFill>
          <a:ln w="10160">
            <a:solidFill>
              <a:srgbClr val="D4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426464"/>
            <a:ext cx="2971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84A7D"/>
                </a:solidFill>
                <a:latin typeface="Noto Sans CJK KR"/>
              </a:rPr>
              <a:t>현재 상태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32588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C6EB8"/>
                </a:solidFill>
                <a:latin typeface="Noto Sans CJK KR"/>
              </a:rPr>
              <a:t>MVP 핵심 흐름 완료 단계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1426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56606A"/>
                </a:solidFill>
                <a:latin typeface="Noto Sans CJK KR"/>
              </a:rPr>
              <a:t>실제 통신 방식 남음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542032"/>
            <a:ext cx="2423160" cy="1115568"/>
          </a:xfrm>
          <a:prstGeom prst="rect">
            <a:avLst/>
          </a:prstGeom>
          <a:solidFill>
            <a:srgbClr val="E5F7EE"/>
          </a:solidFill>
          <a:ln w="10160">
            <a:solidFill>
              <a:srgbClr val="D4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724912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0B264"/>
                </a:solidFill>
                <a:latin typeface="Noto Sans CJK KR"/>
              </a:rPr>
              <a:t>7개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320040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70" b="0">
                <a:solidFill>
                  <a:srgbClr val="56606A"/>
                </a:solidFill>
                <a:latin typeface="Noto Sans CJK KR"/>
              </a:rPr>
              <a:t>목적지 선택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0128" y="2542032"/>
            <a:ext cx="2423160" cy="1115568"/>
          </a:xfrm>
          <a:prstGeom prst="rect">
            <a:avLst/>
          </a:prstGeom>
          <a:solidFill>
            <a:srgbClr val="E5F7EE"/>
          </a:solidFill>
          <a:ln w="10160">
            <a:solidFill>
              <a:srgbClr val="D4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11296" y="2724912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0B264"/>
                </a:solidFill>
                <a:latin typeface="Noto Sans CJK KR"/>
              </a:rPr>
              <a:t>24개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1296" y="320040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70" b="0">
                <a:solidFill>
                  <a:srgbClr val="56606A"/>
                </a:solidFill>
                <a:latin typeface="Noto Sans CJK KR"/>
              </a:rPr>
              <a:t>후보 위성 데이터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61888" y="2542032"/>
            <a:ext cx="2423160" cy="1115568"/>
          </a:xfrm>
          <a:prstGeom prst="rect">
            <a:avLst/>
          </a:prstGeom>
          <a:solidFill>
            <a:srgbClr val="E7F2FC"/>
          </a:solidFill>
          <a:ln w="10160">
            <a:solidFill>
              <a:srgbClr val="D4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63056" y="2724912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C6EB8"/>
                </a:solidFill>
                <a:latin typeface="Noto Sans CJK KR"/>
              </a:rPr>
              <a:t>PASS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63056" y="320040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70" b="0">
                <a:solidFill>
                  <a:srgbClr val="56606A"/>
                </a:solidFill>
                <a:latin typeface="Noto Sans CJK KR"/>
              </a:rPr>
              <a:t>자동 검증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13648" y="2542032"/>
            <a:ext cx="2423160" cy="1115568"/>
          </a:xfrm>
          <a:prstGeom prst="rect">
            <a:avLst/>
          </a:prstGeom>
          <a:solidFill>
            <a:srgbClr val="FFF6E0"/>
          </a:solidFill>
          <a:ln w="10160">
            <a:solidFill>
              <a:srgbClr val="D4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14816" y="2724912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F3AE20"/>
                </a:solidFill>
                <a:latin typeface="Noto Sans CJK KR"/>
              </a:rPr>
              <a:t>남음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14816" y="320040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70" b="0">
                <a:solidFill>
                  <a:srgbClr val="56606A"/>
                </a:solidFill>
                <a:latin typeface="Noto Sans CJK KR"/>
              </a:rPr>
              <a:t>실제 통신 방식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4133087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20" b="1">
                <a:solidFill>
                  <a:srgbClr val="232A32"/>
                </a:solidFill>
                <a:latin typeface="Noto Sans CJK KR"/>
              </a:rPr>
              <a:t>MVP 흐름 구현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64992" y="4197095"/>
            <a:ext cx="4709160" cy="155448"/>
          </a:xfrm>
          <a:prstGeom prst="rect">
            <a:avLst/>
          </a:prstGeom>
          <a:solidFill>
            <a:srgbClr val="E6ECF2"/>
          </a:solidFill>
          <a:ln w="10160">
            <a:solidFill>
              <a:srgbClr val="E6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364992" y="4197095"/>
            <a:ext cx="4238244" cy="155448"/>
          </a:xfrm>
          <a:prstGeom prst="rect">
            <a:avLst/>
          </a:prstGeom>
          <a:solidFill>
            <a:srgbClr val="20B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339327" y="4114799"/>
            <a:ext cx="987552" cy="310896"/>
          </a:xfrm>
          <a:prstGeom prst="roundRect">
            <a:avLst/>
          </a:prstGeom>
          <a:solidFill>
            <a:srgbClr val="20B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Noto Sans CJK KR"/>
              </a:rPr>
              <a:t>완료권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55480" y="4133087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30" b="1">
                <a:solidFill>
                  <a:srgbClr val="56606A"/>
                </a:solidFill>
                <a:latin typeface="Noto Sans CJK KR"/>
              </a:rPr>
              <a:t>90%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64515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20" b="1">
                <a:solidFill>
                  <a:srgbClr val="232A32"/>
                </a:solidFill>
                <a:latin typeface="Noto Sans CJK KR"/>
              </a:rPr>
              <a:t>추가 구현 항목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64992" y="4709160"/>
            <a:ext cx="4709160" cy="155448"/>
          </a:xfrm>
          <a:prstGeom prst="rect">
            <a:avLst/>
          </a:prstGeom>
          <a:solidFill>
            <a:srgbClr val="E6ECF2"/>
          </a:solidFill>
          <a:ln w="10160">
            <a:solidFill>
              <a:srgbClr val="E6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64992" y="4709160"/>
            <a:ext cx="3296412" cy="155448"/>
          </a:xfrm>
          <a:prstGeom prst="rect">
            <a:avLst/>
          </a:prstGeom>
          <a:solidFill>
            <a:srgbClr val="20B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339327" y="4626864"/>
            <a:ext cx="987552" cy="310896"/>
          </a:xfrm>
          <a:prstGeom prst="roundRect">
            <a:avLst/>
          </a:prstGeom>
          <a:solidFill>
            <a:srgbClr val="20B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Noto Sans CJK KR"/>
              </a:rPr>
              <a:t>일부 완료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55480" y="4645152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30" b="1">
                <a:solidFill>
                  <a:srgbClr val="56606A"/>
                </a:solidFill>
                <a:latin typeface="Noto Sans CJK KR"/>
              </a:rPr>
              <a:t>70%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" y="5157216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20" b="1">
                <a:solidFill>
                  <a:srgbClr val="232A32"/>
                </a:solidFill>
                <a:latin typeface="Noto Sans CJK KR"/>
              </a:rPr>
              <a:t>예외 케이스 검증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64992" y="5221224"/>
            <a:ext cx="4709160" cy="155448"/>
          </a:xfrm>
          <a:prstGeom prst="rect">
            <a:avLst/>
          </a:prstGeom>
          <a:solidFill>
            <a:srgbClr val="E6ECF2"/>
          </a:solidFill>
          <a:ln w="10160">
            <a:solidFill>
              <a:srgbClr val="E6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364992" y="5221224"/>
            <a:ext cx="2354580" cy="155448"/>
          </a:xfrm>
          <a:prstGeom prst="rect">
            <a:avLst/>
          </a:prstGeom>
          <a:solidFill>
            <a:srgbClr val="F3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339327" y="5138928"/>
            <a:ext cx="987552" cy="310896"/>
          </a:xfrm>
          <a:prstGeom prst="roundRect">
            <a:avLst/>
          </a:prstGeom>
          <a:solidFill>
            <a:srgbClr val="F3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Noto Sans CJK KR"/>
              </a:rPr>
              <a:t>보완 중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55480" y="5157216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30" b="1">
                <a:solidFill>
                  <a:srgbClr val="56606A"/>
                </a:solidFill>
                <a:latin typeface="Noto Sans CJK KR"/>
              </a:rPr>
              <a:t>50%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8952" y="566928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20" b="1">
                <a:solidFill>
                  <a:srgbClr val="232A32"/>
                </a:solidFill>
                <a:latin typeface="Noto Sans CJK KR"/>
              </a:rPr>
              <a:t>실제 통신 방식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364992" y="5733288"/>
            <a:ext cx="4709160" cy="155448"/>
          </a:xfrm>
          <a:prstGeom prst="rect">
            <a:avLst/>
          </a:prstGeom>
          <a:solidFill>
            <a:srgbClr val="E6ECF2"/>
          </a:solidFill>
          <a:ln w="10160">
            <a:solidFill>
              <a:srgbClr val="E6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364992" y="5733288"/>
            <a:ext cx="706374" cy="155448"/>
          </a:xfrm>
          <a:prstGeom prst="rect">
            <a:avLst/>
          </a:prstGeom>
          <a:solidFill>
            <a:srgbClr val="F3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339327" y="5650992"/>
            <a:ext cx="987552" cy="310896"/>
          </a:xfrm>
          <a:prstGeom prst="roundRect">
            <a:avLst/>
          </a:prstGeom>
          <a:solidFill>
            <a:srgbClr val="F3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Noto Sans CJK KR"/>
              </a:rPr>
              <a:t>남음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55480" y="5669280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30" b="1">
                <a:solidFill>
                  <a:srgbClr val="56606A"/>
                </a:solidFill>
                <a:latin typeface="Noto Sans CJK KR"/>
              </a:rPr>
              <a:t>15%</a:t>
            </a:r>
          </a:p>
        </p:txBody>
      </p:sp>
      <p:sp>
        <p:nvSpPr>
          <p:cNvPr id="44" name="VisibleSlideNumber"/>
          <p:cNvSpPr txBox="1"/>
          <p:nvPr/>
        </p:nvSpPr>
        <p:spPr>
          <a:xfrm>
            <a:off x="10104120" y="6254496"/>
            <a:ext cx="129844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50" b="1">
                <a:solidFill>
                  <a:srgbClr val="1C6EB8"/>
                </a:solidFill>
                <a:latin typeface="Noto Sans CJK KR"/>
              </a:rP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0B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473952"/>
            <a:ext cx="11018520" cy="9144"/>
          </a:xfrm>
          <a:prstGeom prst="rect">
            <a:avLst/>
          </a:prstGeom>
          <a:solidFill>
            <a:srgbClr val="D4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6556248"/>
            <a:ext cx="8046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56606A"/>
                </a:solidFill>
                <a:latin typeface="Noto Sans CJK KR"/>
              </a:rPr>
              <a:t>완료 항목은 구현 증거 기준으로 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84048"/>
            <a:ext cx="8138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C6EB8"/>
                </a:solidFill>
                <a:latin typeface="Noto Sans CJK KR"/>
              </a:rPr>
              <a:t>구현 완료된 핵심 흐름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96112"/>
            <a:ext cx="8412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70" b="0">
                <a:solidFill>
                  <a:srgbClr val="56606A"/>
                </a:solidFill>
                <a:latin typeface="Noto Sans CJK KR"/>
              </a:rPr>
              <a:t>입력 조건이 위성 선택과 전송 결과까지 이어집니다.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536192"/>
            <a:ext cx="2505456" cy="2157984"/>
          </a:xfrm>
          <a:prstGeom prst="rect">
            <a:avLst/>
          </a:prstGeom>
          <a:solidFill>
            <a:srgbClr val="FFFFFF"/>
          </a:solidFill>
          <a:ln w="10160">
            <a:solidFill>
              <a:srgbClr val="D4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755648"/>
            <a:ext cx="402336" cy="402336"/>
          </a:xfrm>
          <a:prstGeom prst="ellipse">
            <a:avLst/>
          </a:prstGeom>
          <a:solidFill>
            <a:srgbClr val="20B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Noto Sans CJK K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30428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20" b="1">
                <a:solidFill>
                  <a:srgbClr val="232A32"/>
                </a:solidFill>
                <a:latin typeface="Noto Sans CJK KR"/>
              </a:rPr>
              <a:t>입력 설정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734056"/>
            <a:ext cx="1975104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40" b="0">
                <a:solidFill>
                  <a:srgbClr val="56606A"/>
                </a:solidFill>
                <a:latin typeface="Noto Sans CJK KR"/>
              </a:rPr>
              <a:t>목적지/발신 시각</a:t>
            </a:r>
          </a:p>
          <a:p>
            <a:r>
              <a:rPr sz="1140" b="0">
                <a:solidFill>
                  <a:srgbClr val="56606A"/>
                </a:solidFill>
                <a:latin typeface="Noto Sans CJK KR"/>
              </a:rPr>
              <a:t>메시지/첨부 입력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01568" y="1536192"/>
            <a:ext cx="2505456" cy="2157984"/>
          </a:xfrm>
          <a:prstGeom prst="rect">
            <a:avLst/>
          </a:prstGeom>
          <a:solidFill>
            <a:srgbClr val="FFFFFF"/>
          </a:solidFill>
          <a:ln w="10160">
            <a:solidFill>
              <a:srgbClr val="D4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21024" y="1755648"/>
            <a:ext cx="402336" cy="402336"/>
          </a:xfrm>
          <a:prstGeom prst="ellipse">
            <a:avLst/>
          </a:prstGeom>
          <a:solidFill>
            <a:srgbClr val="20B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Noto Sans CJK KR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230428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20" b="1">
                <a:solidFill>
                  <a:srgbClr val="232A32"/>
                </a:solidFill>
                <a:latin typeface="Noto Sans CJK KR"/>
              </a:rPr>
              <a:t>위성 추천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1024" y="2734056"/>
            <a:ext cx="1975104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40" b="0">
                <a:solidFill>
                  <a:srgbClr val="56606A"/>
                </a:solidFill>
                <a:latin typeface="Noto Sans CJK KR"/>
              </a:rPr>
              <a:t>7개 목적지와 24개 후보</a:t>
            </a:r>
          </a:p>
          <a:p>
            <a:r>
              <a:rPr sz="1140" b="0">
                <a:solidFill>
                  <a:srgbClr val="56606A"/>
                </a:solidFill>
                <a:latin typeface="Noto Sans CJK KR"/>
              </a:rPr>
              <a:t>필터/추천 표시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44768" y="1536192"/>
            <a:ext cx="2505456" cy="2157984"/>
          </a:xfrm>
          <a:prstGeom prst="rect">
            <a:avLst/>
          </a:prstGeom>
          <a:solidFill>
            <a:srgbClr val="FFFFFF"/>
          </a:solidFill>
          <a:ln w="10160">
            <a:solidFill>
              <a:srgbClr val="D4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64224" y="1755648"/>
            <a:ext cx="402336" cy="402336"/>
          </a:xfrm>
          <a:prstGeom prst="ellipse">
            <a:avLst/>
          </a:prstGeom>
          <a:solidFill>
            <a:srgbClr val="20B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Noto Sans CJK KR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4224" y="230428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20" b="1">
                <a:solidFill>
                  <a:srgbClr val="232A32"/>
                </a:solidFill>
                <a:latin typeface="Noto Sans CJK KR"/>
              </a:rPr>
              <a:t>전송 시각화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4224" y="2734056"/>
            <a:ext cx="1975104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40" b="0">
                <a:solidFill>
                  <a:srgbClr val="56606A"/>
                </a:solidFill>
                <a:latin typeface="Noto Sans CJK KR"/>
              </a:rPr>
              <a:t>중계선과 진행률</a:t>
            </a:r>
          </a:p>
          <a:p>
            <a:r>
              <a:rPr sz="1140" b="0">
                <a:solidFill>
                  <a:srgbClr val="56606A"/>
                </a:solidFill>
                <a:latin typeface="Noto Sans CJK KR"/>
              </a:rPr>
              <a:t>relay/delivery 상태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87968" y="1536192"/>
            <a:ext cx="2505456" cy="2157984"/>
          </a:xfrm>
          <a:prstGeom prst="rect">
            <a:avLst/>
          </a:prstGeom>
          <a:solidFill>
            <a:srgbClr val="FFFFFF"/>
          </a:solidFill>
          <a:ln w="10160">
            <a:solidFill>
              <a:srgbClr val="D4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07424" y="1755648"/>
            <a:ext cx="402336" cy="402336"/>
          </a:xfrm>
          <a:prstGeom prst="ellipse">
            <a:avLst/>
          </a:prstGeom>
          <a:solidFill>
            <a:srgbClr val="1C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Noto Sans CJK KR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07424" y="230428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20" b="1">
                <a:solidFill>
                  <a:srgbClr val="232A32"/>
                </a:solidFill>
                <a:latin typeface="Noto Sans CJK KR"/>
              </a:rPr>
              <a:t>결과/기록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07424" y="2734056"/>
            <a:ext cx="1975104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40" b="0">
                <a:solidFill>
                  <a:srgbClr val="56606A"/>
                </a:solidFill>
                <a:latin typeface="Noto Sans CJK KR"/>
              </a:rPr>
              <a:t>수신 완료</a:t>
            </a:r>
          </a:p>
          <a:p>
            <a:r>
              <a:rPr sz="1140" b="0">
                <a:solidFill>
                  <a:srgbClr val="56606A"/>
                </a:solidFill>
                <a:latin typeface="Noto Sans CJK KR"/>
              </a:rPr>
              <a:t>기록/재시도 확인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4224528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0B264"/>
                </a:solidFill>
                <a:latin typeface="Noto Sans CJK KR"/>
              </a:rPr>
              <a:t>현재 확인된 근거</a:t>
            </a:r>
          </a:p>
        </p:txBody>
      </p:sp>
      <p:sp>
        <p:nvSpPr>
          <p:cNvPr id="25" name="Oval 24"/>
          <p:cNvSpPr/>
          <p:nvPr/>
        </p:nvSpPr>
        <p:spPr>
          <a:xfrm>
            <a:off x="713232" y="4837175"/>
            <a:ext cx="91440" cy="91440"/>
          </a:xfrm>
          <a:prstGeom prst="ellipse">
            <a:avLst/>
          </a:prstGeom>
          <a:solidFill>
            <a:srgbClr val="20B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" y="4745735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30" b="0">
                <a:solidFill>
                  <a:srgbClr val="232A32"/>
                </a:solidFill>
                <a:latin typeface="Noto Sans CJK KR"/>
              </a:rPr>
              <a:t>Play 화면 캡처</a:t>
            </a:r>
          </a:p>
        </p:txBody>
      </p:sp>
      <p:sp>
        <p:nvSpPr>
          <p:cNvPr id="27" name="Oval 26"/>
          <p:cNvSpPr/>
          <p:nvPr/>
        </p:nvSpPr>
        <p:spPr>
          <a:xfrm>
            <a:off x="713232" y="5276087"/>
            <a:ext cx="91440" cy="91440"/>
          </a:xfrm>
          <a:prstGeom prst="ellipse">
            <a:avLst/>
          </a:prstGeom>
          <a:solidFill>
            <a:srgbClr val="20B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3544" y="5184647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30" b="0">
                <a:solidFill>
                  <a:srgbClr val="232A32"/>
                </a:solidFill>
                <a:latin typeface="Noto Sans CJK KR"/>
              </a:rPr>
              <a:t>자동 검증 PASS</a:t>
            </a:r>
          </a:p>
        </p:txBody>
      </p:sp>
      <p:sp>
        <p:nvSpPr>
          <p:cNvPr id="29" name="Oval 28"/>
          <p:cNvSpPr/>
          <p:nvPr/>
        </p:nvSpPr>
        <p:spPr>
          <a:xfrm>
            <a:off x="713232" y="5714999"/>
            <a:ext cx="91440" cy="91440"/>
          </a:xfrm>
          <a:prstGeom prst="ellipse">
            <a:avLst/>
          </a:prstGeom>
          <a:solidFill>
            <a:srgbClr val="20B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3544" y="5623559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30" b="0">
                <a:solidFill>
                  <a:srgbClr val="232A32"/>
                </a:solidFill>
                <a:latin typeface="Noto Sans CJK KR"/>
              </a:rPr>
              <a:t>주요 Error/Exception 없음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224528"/>
            <a:ext cx="4754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3AE20"/>
                </a:solidFill>
                <a:latin typeface="Noto Sans CJK KR"/>
              </a:rPr>
              <a:t>아직 실제 방식이 아닌 부분</a:t>
            </a:r>
          </a:p>
        </p:txBody>
      </p:sp>
      <p:sp>
        <p:nvSpPr>
          <p:cNvPr id="32" name="Oval 31"/>
          <p:cNvSpPr/>
          <p:nvPr/>
        </p:nvSpPr>
        <p:spPr>
          <a:xfrm>
            <a:off x="6400800" y="4837175"/>
            <a:ext cx="91440" cy="91440"/>
          </a:xfrm>
          <a:prstGeom prst="ellipse">
            <a:avLst/>
          </a:prstGeom>
          <a:solidFill>
            <a:srgbClr val="F3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11112" y="4745735"/>
            <a:ext cx="4526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30" b="0">
                <a:solidFill>
                  <a:srgbClr val="232A32"/>
                </a:solidFill>
                <a:latin typeface="Noto Sans CJK KR"/>
              </a:rPr>
              <a:t>현재는 시뮬레이션 데이터 기준</a:t>
            </a:r>
          </a:p>
        </p:txBody>
      </p:sp>
      <p:sp>
        <p:nvSpPr>
          <p:cNvPr id="34" name="Oval 33"/>
          <p:cNvSpPr/>
          <p:nvPr/>
        </p:nvSpPr>
        <p:spPr>
          <a:xfrm>
            <a:off x="6400800" y="5276087"/>
            <a:ext cx="91440" cy="91440"/>
          </a:xfrm>
          <a:prstGeom prst="ellipse">
            <a:avLst/>
          </a:prstGeom>
          <a:solidFill>
            <a:srgbClr val="F3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11112" y="5184647"/>
            <a:ext cx="4526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30" b="0">
                <a:solidFill>
                  <a:srgbClr val="232A32"/>
                </a:solidFill>
                <a:latin typeface="Noto Sans CJK KR"/>
              </a:rPr>
              <a:t>실제 위성 통신 프로토콜 미반영</a:t>
            </a:r>
          </a:p>
        </p:txBody>
      </p:sp>
      <p:sp>
        <p:nvSpPr>
          <p:cNvPr id="36" name="Oval 35"/>
          <p:cNvSpPr/>
          <p:nvPr/>
        </p:nvSpPr>
        <p:spPr>
          <a:xfrm>
            <a:off x="6400800" y="5714999"/>
            <a:ext cx="91440" cy="91440"/>
          </a:xfrm>
          <a:prstGeom prst="ellipse">
            <a:avLst/>
          </a:prstGeom>
          <a:solidFill>
            <a:srgbClr val="F3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11112" y="5623559"/>
            <a:ext cx="4526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30" b="0">
                <a:solidFill>
                  <a:srgbClr val="232A32"/>
                </a:solidFill>
                <a:latin typeface="Noto Sans CJK KR"/>
              </a:rPr>
              <a:t>정밀 궤도/링크 조건은 남은 작업</a:t>
            </a:r>
          </a:p>
        </p:txBody>
      </p:sp>
      <p:sp>
        <p:nvSpPr>
          <p:cNvPr id="38" name="VisibleSlideNumber"/>
          <p:cNvSpPr txBox="1"/>
          <p:nvPr/>
        </p:nvSpPr>
        <p:spPr>
          <a:xfrm>
            <a:off x="10104120" y="6254496"/>
            <a:ext cx="129844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50" b="1">
                <a:solidFill>
                  <a:srgbClr val="1C6EB8"/>
                </a:solidFill>
                <a:latin typeface="Noto Sans CJK KR"/>
              </a:rPr>
              <a:t>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0B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473952"/>
            <a:ext cx="11018520" cy="9144"/>
          </a:xfrm>
          <a:prstGeom prst="rect">
            <a:avLst/>
          </a:prstGeom>
          <a:solidFill>
            <a:srgbClr val="D4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6556248"/>
            <a:ext cx="8046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56606A"/>
                </a:solidFill>
                <a:latin typeface="Noto Sans CJK KR"/>
              </a:rPr>
              <a:t>현재 실행 화면으로 구현 상태를 확인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84048"/>
            <a:ext cx="8138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C6EB8"/>
                </a:solidFill>
                <a:latin typeface="Noto Sans CJK KR"/>
              </a:rPr>
              <a:t>현재 구현 화면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96112"/>
            <a:ext cx="8412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70" b="0">
                <a:solidFill>
                  <a:srgbClr val="56606A"/>
                </a:solidFill>
                <a:latin typeface="Noto Sans CJK KR"/>
              </a:rPr>
              <a:t>중간발표에서는 이 화면을 기준으로 구현된 흐름을 설명합니다.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353312"/>
            <a:ext cx="3063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C6EB8"/>
                </a:solidFill>
                <a:latin typeface="Noto Sans CJK KR"/>
              </a:rPr>
              <a:t>화면에서 확인할 것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1965959"/>
            <a:ext cx="91440" cy="91440"/>
          </a:xfrm>
          <a:prstGeom prst="ellipse">
            <a:avLst/>
          </a:prstGeom>
          <a:solidFill>
            <a:srgbClr val="1C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74519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60" b="0">
                <a:solidFill>
                  <a:srgbClr val="232A32"/>
                </a:solidFill>
                <a:latin typeface="Noto Sans CJK KR"/>
              </a:rPr>
              <a:t>목적지/시각 선택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423159"/>
            <a:ext cx="91440" cy="91440"/>
          </a:xfrm>
          <a:prstGeom prst="ellipse">
            <a:avLst/>
          </a:prstGeom>
          <a:solidFill>
            <a:srgbClr val="1C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331719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60" b="0">
                <a:solidFill>
                  <a:srgbClr val="232A32"/>
                </a:solidFill>
                <a:latin typeface="Noto Sans CJK KR"/>
              </a:rPr>
              <a:t>메시지와 첨부 입력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2880359"/>
            <a:ext cx="91440" cy="91440"/>
          </a:xfrm>
          <a:prstGeom prst="ellipse">
            <a:avLst/>
          </a:prstGeom>
          <a:solidFill>
            <a:srgbClr val="1C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788919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60" b="0">
                <a:solidFill>
                  <a:srgbClr val="232A32"/>
                </a:solidFill>
                <a:latin typeface="Noto Sans CJK KR"/>
              </a:rPr>
              <a:t>후보 위성 확인</a:t>
            </a:r>
          </a:p>
        </p:txBody>
      </p:sp>
      <p:sp>
        <p:nvSpPr>
          <p:cNvPr id="15" name="Oval 14"/>
          <p:cNvSpPr/>
          <p:nvPr/>
        </p:nvSpPr>
        <p:spPr>
          <a:xfrm>
            <a:off x="658368" y="3337559"/>
            <a:ext cx="91440" cy="91440"/>
          </a:xfrm>
          <a:prstGeom prst="ellipse">
            <a:avLst/>
          </a:prstGeom>
          <a:solidFill>
            <a:srgbClr val="1C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246119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60" b="0">
                <a:solidFill>
                  <a:srgbClr val="232A32"/>
                </a:solidFill>
                <a:latin typeface="Noto Sans CJK KR"/>
              </a:rPr>
              <a:t>전송 진행률 확인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794759"/>
            <a:ext cx="91440" cy="91440"/>
          </a:xfrm>
          <a:prstGeom prst="ellipse">
            <a:avLst/>
          </a:prstGeom>
          <a:solidFill>
            <a:srgbClr val="1C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703319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60" b="0">
                <a:solidFill>
                  <a:srgbClr val="232A32"/>
                </a:solidFill>
                <a:latin typeface="Noto Sans CJK KR"/>
              </a:rPr>
              <a:t>수신 완료/기록 확인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22191" y="1207008"/>
            <a:ext cx="7571231" cy="4526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orbitshare-playm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1307592"/>
            <a:ext cx="7351775" cy="4135373"/>
          </a:xfrm>
          <a:prstGeom prst="rect">
            <a:avLst/>
          </a:prstGeom>
          <a:ln w="12700">
            <a:solidFill>
              <a:srgbClr val="D4DEE7"/>
            </a:solidFill>
          </a:ln>
        </p:spPr>
      </p:pic>
      <p:sp>
        <p:nvSpPr>
          <p:cNvPr id="21" name="Rounded Rectangle 20"/>
          <p:cNvSpPr/>
          <p:nvPr/>
        </p:nvSpPr>
        <p:spPr>
          <a:xfrm>
            <a:off x="9838944" y="932688"/>
            <a:ext cx="1417320" cy="310896"/>
          </a:xfrm>
          <a:prstGeom prst="roundRect">
            <a:avLst/>
          </a:prstGeom>
          <a:solidFill>
            <a:srgbClr val="1C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KR"/>
              </a:rPr>
              <a:t>현재 화면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86784" y="5504688"/>
            <a:ext cx="7178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6606A"/>
                </a:solidFill>
                <a:latin typeface="Noto Sans CJK KR"/>
              </a:rPr>
              <a:t>현재 구현 상태 캡처입니다. 실제 인공위성 통신 방식은 아직 반영 전입니다.</a:t>
            </a:r>
          </a:p>
        </p:txBody>
      </p:sp>
      <p:sp>
        <p:nvSpPr>
          <p:cNvPr id="23" name="VisibleSlideNumber"/>
          <p:cNvSpPr txBox="1"/>
          <p:nvPr/>
        </p:nvSpPr>
        <p:spPr>
          <a:xfrm>
            <a:off x="10104120" y="6254496"/>
            <a:ext cx="129844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50" b="1">
                <a:solidFill>
                  <a:srgbClr val="1C6EB8"/>
                </a:solidFill>
                <a:latin typeface="Noto Sans CJK KR"/>
              </a:rPr>
              <a:t>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3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473952"/>
            <a:ext cx="11018520" cy="9144"/>
          </a:xfrm>
          <a:prstGeom prst="rect">
            <a:avLst/>
          </a:prstGeom>
          <a:solidFill>
            <a:srgbClr val="D4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6556248"/>
            <a:ext cx="8046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56606A"/>
                </a:solidFill>
                <a:latin typeface="Noto Sans CJK KR"/>
              </a:rPr>
              <a:t>남은 작업은 예외 검증과 실제 인공위성 통신 방식 구현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84048"/>
            <a:ext cx="8138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C6EB8"/>
                </a:solidFill>
                <a:latin typeface="Noto Sans CJK KR"/>
              </a:rPr>
              <a:t>남은 작업 계획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96112"/>
            <a:ext cx="8412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70" b="0">
                <a:solidFill>
                  <a:srgbClr val="56606A"/>
                </a:solidFill>
                <a:latin typeface="Noto Sans CJK KR"/>
              </a:rPr>
              <a:t>남은 작업은 OrbitShare 자체의 실제성과 안정성을 높이는 항목입니다.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572768"/>
            <a:ext cx="4434840" cy="356616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8176" y="1847088"/>
            <a:ext cx="6583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C6EB8"/>
                </a:solidFill>
                <a:latin typeface="Noto Sans CJK KR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3317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20" b="1">
                <a:solidFill>
                  <a:srgbClr val="232A32"/>
                </a:solidFill>
                <a:latin typeface="Noto Sans CJK KR"/>
              </a:rPr>
              <a:t>예외 케이스 검증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2999232"/>
            <a:ext cx="36576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20" b="0">
                <a:solidFill>
                  <a:srgbClr val="56606A"/>
                </a:solidFill>
                <a:latin typeface="Noto Sans CJK KR"/>
              </a:rPr>
              <a:t>용량 초과, 통신 불가,</a:t>
            </a:r>
          </a:p>
          <a:p>
            <a:r>
              <a:rPr sz="1320" b="0">
                <a:solidFill>
                  <a:srgbClr val="56606A"/>
                </a:solidFill>
                <a:latin typeface="Noto Sans CJK KR"/>
              </a:rPr>
              <a:t>전송 실패와 재시도 흐름 점검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08176" y="4370832"/>
            <a:ext cx="1170432" cy="310896"/>
          </a:xfrm>
          <a:prstGeom prst="roundRect">
            <a:avLst/>
          </a:prstGeom>
          <a:solidFill>
            <a:srgbClr val="F3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KR"/>
              </a:rPr>
              <a:t>남은 작업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572768"/>
            <a:ext cx="4434840" cy="356616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74536" y="1847088"/>
            <a:ext cx="6583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3AE20"/>
                </a:solidFill>
                <a:latin typeface="Noto Sans CJK KR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74536" y="23317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20" b="1">
                <a:solidFill>
                  <a:srgbClr val="232A32"/>
                </a:solidFill>
                <a:latin typeface="Noto Sans CJK KR"/>
              </a:rPr>
              <a:t>실제 인공위성 통신 방식 구현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74536" y="2999232"/>
            <a:ext cx="36576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20" b="0">
                <a:solidFill>
                  <a:srgbClr val="56606A"/>
                </a:solidFill>
                <a:latin typeface="Noto Sans CJK KR"/>
              </a:rPr>
              <a:t>가시권, 링크 조건, 지연/손실 등</a:t>
            </a:r>
          </a:p>
          <a:p>
            <a:r>
              <a:rPr sz="1320" b="0">
                <a:solidFill>
                  <a:srgbClr val="56606A"/>
                </a:solidFill>
                <a:latin typeface="Noto Sans CJK KR"/>
              </a:rPr>
              <a:t>현실적인 통신 모델 반영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74536" y="4370832"/>
            <a:ext cx="1170432" cy="310896"/>
          </a:xfrm>
          <a:prstGeom prst="roundRect">
            <a:avLst/>
          </a:prstGeom>
          <a:solidFill>
            <a:srgbClr val="F3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KR"/>
              </a:rPr>
              <a:t>남은 작업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5650992"/>
            <a:ext cx="9784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56606A"/>
                </a:solidFill>
                <a:latin typeface="Noto Sans CJK KR"/>
              </a:rPr>
              <a:t>현재는 실제 위성 통신 방식이 아니라 발표용 시뮬레이션 모델입니다.</a:t>
            </a:r>
          </a:p>
        </p:txBody>
      </p:sp>
      <p:sp>
        <p:nvSpPr>
          <p:cNvPr id="19" name="VisibleSlideNumber"/>
          <p:cNvSpPr txBox="1"/>
          <p:nvPr/>
        </p:nvSpPr>
        <p:spPr>
          <a:xfrm>
            <a:off x="10104120" y="6254496"/>
            <a:ext cx="129844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50" b="1">
                <a:solidFill>
                  <a:srgbClr val="1C6EB8"/>
                </a:solidFill>
                <a:latin typeface="Noto Sans CJK KR"/>
              </a:rPr>
              <a:t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C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968" y="896112"/>
            <a:ext cx="4315968" cy="521969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02920" y="6473952"/>
            <a:ext cx="11018520" cy="9144"/>
          </a:xfrm>
          <a:prstGeom prst="rect">
            <a:avLst/>
          </a:prstGeom>
          <a:solidFill>
            <a:srgbClr val="D4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56248"/>
            <a:ext cx="8046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56606A"/>
                </a:solidFill>
                <a:latin typeface="Noto Sans CJK KR"/>
              </a:rPr>
              <a:t>중간 점검 결론: MVP 완료권, 실제 통신 방식 구현이 남음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384048"/>
            <a:ext cx="8138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C6EB8"/>
                </a:solidFill>
                <a:latin typeface="Noto Sans CJK KR"/>
              </a:rPr>
              <a:t>중간 점검 결론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325880"/>
            <a:ext cx="5074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C6EB8"/>
                </a:solidFill>
                <a:latin typeface="Noto Sans CJK KR"/>
              </a:rPr>
              <a:t>MVP 핵심 흐름은 완료 단계입니다.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901952"/>
            <a:ext cx="5166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70" b="0">
                <a:solidFill>
                  <a:srgbClr val="232A32"/>
                </a:solidFill>
                <a:latin typeface="Noto Sans CJK KR"/>
              </a:rPr>
              <a:t>다만 현재는 실제 인공위성 통신 방식이 아닌 시뮬레이션입니다.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944" y="2743200"/>
            <a:ext cx="5358384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4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2880360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20B264"/>
                </a:solidFill>
                <a:latin typeface="Noto Sans CJK KR"/>
              </a:rPr>
              <a:t>MVP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2880360"/>
            <a:ext cx="3794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60" b="0">
                <a:solidFill>
                  <a:srgbClr val="232A32"/>
                </a:solidFill>
                <a:latin typeface="Noto Sans CJK KR"/>
              </a:rPr>
              <a:t>위성 후보 선택 -&gt; 정보 입력 -&gt; 요청 완료 흐름 구현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4944" y="3529584"/>
            <a:ext cx="5358384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4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3666744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1C6EB8"/>
                </a:solidFill>
                <a:latin typeface="Noto Sans CJK KR"/>
              </a:rPr>
              <a:t>추가 구현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3666744"/>
            <a:ext cx="3794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60" b="0">
                <a:solidFill>
                  <a:srgbClr val="232A32"/>
                </a:solidFill>
                <a:latin typeface="Noto Sans CJK KR"/>
              </a:rPr>
              <a:t>연결선, 진행률, 로그, 기록/재시도 일부 반영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4944" y="4315968"/>
            <a:ext cx="5358384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4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4453128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F3AE20"/>
                </a:solidFill>
                <a:latin typeface="Noto Sans CJK KR"/>
              </a:rPr>
              <a:t>남은 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60" y="4453128"/>
            <a:ext cx="3794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60" b="0">
                <a:solidFill>
                  <a:srgbClr val="232A32"/>
                </a:solidFill>
                <a:latin typeface="Noto Sans CJK KR"/>
              </a:rPr>
              <a:t>예외 케이스 검증, 실제 인공위성 통신 방식 구현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4944" y="5440680"/>
            <a:ext cx="2240280" cy="310896"/>
          </a:xfrm>
          <a:prstGeom prst="roundRect">
            <a:avLst/>
          </a:prstGeom>
          <a:solidFill>
            <a:srgbClr val="1C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KR"/>
              </a:rPr>
              <a:t>실제 통신 방식 보완</a:t>
            </a:r>
          </a:p>
        </p:txBody>
      </p:sp>
      <p:sp>
        <p:nvSpPr>
          <p:cNvPr id="20" name="VisibleSlideNumber"/>
          <p:cNvSpPr txBox="1"/>
          <p:nvPr/>
        </p:nvSpPr>
        <p:spPr>
          <a:xfrm>
            <a:off x="10104120" y="6254496"/>
            <a:ext cx="129844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50" b="1">
                <a:solidFill>
                  <a:srgbClr val="1C6EB8"/>
                </a:solidFill>
                <a:latin typeface="Noto Sans CJK KR"/>
              </a:rP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